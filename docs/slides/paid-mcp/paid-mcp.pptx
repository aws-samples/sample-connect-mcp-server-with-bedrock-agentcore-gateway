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9FF"/>
                </a:solidFill>
                <a:latin typeface="Consolas"/>
              </a:rPr>
              <a:t>MERCHANT SIDE  ·  WHAT YOU MUST 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FFFFFF"/>
                </a:solidFill>
                <a:latin typeface="Georgia"/>
              </a:rPr>
              <a:t>一个付费 MCP,技术上要提供什么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C7C7D8"/>
                </a:solidFill>
                <a:latin typeface="Arial"/>
              </a:rPr>
              <a:t>协议、传输、工具形状都还是 MCP —— 多出来的只有</a:t>
            </a:r>
            <a:r>
              <a:rPr sz="1050" b="1" i="0">
                <a:solidFill>
                  <a:srgbClr val="FFFFFF"/>
                </a:solidFill>
                <a:latin typeface="Arial"/>
              </a:rPr>
              <a:t>调用之前先付钱</a:t>
            </a:r>
            <a:r>
              <a:rPr sz="1050" b="0" i="0">
                <a:solidFill>
                  <a:srgbClr val="C7C7D8"/>
                </a:solidFill>
                <a:latin typeface="Arial"/>
              </a:rPr>
              <a:t>。落到实现上是这六项;紫色编号的三项是普通 MCP 没有的。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48840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23113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203704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一个 MCP 端点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4144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POST /mcp · JSON-RPC 2.0,实现 initialize / tools/list / tools/call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43784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916936"/>
            <a:ext cx="310896" cy="182880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92608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98648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schema 里留一个 headers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136392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Buyers 的 agent 全靠 inputSchema 决定怎么调;这个对象参数是付款证明的回传口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538728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2102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593592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路由前挂 x402 中间件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831336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在业务逻辑之前声明 scheme、network、payTo、金额与 asset——定价就是一个数字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233672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306824"/>
            <a:ext cx="310896" cy="182880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1596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88536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402 走 MCP 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52628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challenge 放 structuredContent,再配一条 PAYMENT_REQUIRED: 文本标记兜底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928616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001768"/>
            <a:ext cx="310896" cy="182880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1091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983480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结算凭证也放 payload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221224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Gateway 会丢掉 responseHeaders,只写在头里 Buyers 拿不到链上凭证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623560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5705856"/>
            <a:ext cx="31089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678424"/>
            <a:ext cx="4160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Georgia"/>
              </a:rPr>
              <a:t>收款账户 + Gateway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916168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7D8"/>
                </a:solidFill>
                <a:latin typeface="Arial"/>
              </a:rPr>
              <a:t>payTo 需已有该稳定币代币账户;建 mcpServer target 让任何 agent 都能发现你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318504"/>
            <a:ext cx="461772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1371600"/>
            <a:ext cx="5909767" cy="4617720"/>
          </a:xfrm>
          <a:prstGeom prst="rect">
            <a:avLst/>
          </a:prstGeom>
          <a:solidFill>
            <a:srgbClr val="0A0A14"/>
          </a:solidFill>
          <a:ln w="12700">
            <a:solidFill>
              <a:srgbClr val="5B2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61304" y="1591056"/>
            <a:ext cx="274320" cy="164592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1304" y="1600200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1591056"/>
            <a:ext cx="5909767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B9AEDC"/>
                </a:solidFill>
                <a:latin typeface="Consolas"/>
              </a:rPr>
              <a:t>TOOLS/LIST · ONE PAID 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1304" y="1828800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"name":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"price"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"description":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"USD price · 0.001 USDC"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1304" y="1997964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"inputSchema":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"type":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"object"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"properties":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1304" y="2167128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"coin":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  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"type":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"string"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},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2325319"/>
            <a:ext cx="5544007" cy="169164"/>
          </a:xfrm>
          <a:prstGeom prst="rect">
            <a:avLst/>
          </a:prstGeom>
          <a:solidFill>
            <a:srgbClr val="2A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06440" y="2325319"/>
            <a:ext cx="20116" cy="169164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61304" y="2336291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"headers":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"type":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"object"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  </a:t>
            </a:r>
            <a:r>
              <a:rPr sz="900" b="0" i="1">
                <a:solidFill>
                  <a:srgbClr val="8B84A8"/>
                </a:solidFill>
                <a:latin typeface="Consolas"/>
              </a:rPr>
              <a:t>// 付款证明回传口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1304" y="2505456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61304" y="2857500"/>
            <a:ext cx="5434279" cy="1"/>
          </a:xfrm>
          <a:prstGeom prst="rect">
            <a:avLst/>
          </a:prstGeom>
          <a:solidFill>
            <a:srgbClr val="3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61304" y="3040380"/>
            <a:ext cx="274320" cy="164592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61304" y="3049524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3040380"/>
            <a:ext cx="5909767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B9AEDC"/>
                </a:solidFill>
                <a:latin typeface="Consolas"/>
              </a:rPr>
              <a:t>UNPAID → PAYMENT REQUIRED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61304" y="3278124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"content":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[{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"text":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"PAYMENT_REQUIRED: {…}"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}],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436316"/>
            <a:ext cx="5544007" cy="169164"/>
          </a:xfrm>
          <a:prstGeom prst="rect">
            <a:avLst/>
          </a:prstGeom>
          <a:solidFill>
            <a:srgbClr val="2A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06440" y="3436316"/>
            <a:ext cx="20116" cy="169164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61304" y="3447288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"structuredContent":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"x402Version":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FFCE86"/>
                </a:solidFill>
                <a:latin typeface="Consolas"/>
              </a:rPr>
              <a:t>2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61304" y="3616452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"accepts":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[{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"scheme":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"exact"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"amount":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"1000"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61304" y="3785615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"network":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"solana:EtWT…"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"payTo":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"6m9U…"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61304" y="3954780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"asset":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"4zMM…USDC"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}]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61304" y="4306824"/>
            <a:ext cx="5434279" cy="1"/>
          </a:xfrm>
          <a:prstGeom prst="rect">
            <a:avLst/>
          </a:prstGeom>
          <a:solidFill>
            <a:srgbClr val="3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61304" y="4489704"/>
            <a:ext cx="274320" cy="164592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61304" y="449884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08776" y="4489704"/>
            <a:ext cx="5909767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B9AEDC"/>
                </a:solidFill>
                <a:latin typeface="Consolas"/>
              </a:rPr>
              <a:t>PAID → RESULT + RECEIPT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61304" y="4727448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"structuredContent":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"coin":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"bitcoin"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"usd":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FFCE86"/>
                </a:solidFill>
                <a:latin typeface="Consolas"/>
              </a:rPr>
              <a:t>77515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06440" y="4885640"/>
            <a:ext cx="5544007" cy="169164"/>
          </a:xfrm>
          <a:prstGeom prst="rect">
            <a:avLst/>
          </a:prstGeom>
          <a:solidFill>
            <a:srgbClr val="2A1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06440" y="4885640"/>
            <a:ext cx="20116" cy="169164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1304" y="4896612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 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"_x402":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{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"success":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FFCE86"/>
                </a:solidFill>
                <a:latin typeface="Consolas"/>
              </a:rPr>
              <a:t>true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,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C9A9FF"/>
                </a:solidFill>
                <a:latin typeface="Consolas"/>
              </a:rPr>
              <a:t>"transaction":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7DF9C0"/>
                </a:solidFill>
                <a:latin typeface="Consolas"/>
              </a:rPr>
              <a:t>"3Q3XLo…"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61304" y="5065776"/>
            <a:ext cx="5544007" cy="1691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8E2FF"/>
                </a:solidFill>
                <a:latin typeface="Consolas"/>
              </a:rPr>
              <a:t> 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  <a:r>
              <a:rPr sz="900" b="0" i="0">
                <a:solidFill>
                  <a:srgbClr val="E8E2FF"/>
                </a:solidFill>
                <a:latin typeface="Consolas"/>
              </a:rPr>
              <a:t> </a:t>
            </a:r>
            <a:r>
              <a:rPr sz="900" b="0" i="0">
                <a:solidFill>
                  <a:srgbClr val="8B84A8"/>
                </a:solidFill>
                <a:latin typeface="Consolas"/>
              </a:rPr>
              <a:t>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61304" y="5417819"/>
            <a:ext cx="5434279" cy="1"/>
          </a:xfrm>
          <a:prstGeom prst="rect">
            <a:avLst/>
          </a:prstGeom>
          <a:solidFill>
            <a:srgbClr val="3A2F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58368" y="6291072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8368" y="64008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FACILITATOR: X402.ORG 或自建 · 测试网 BASE SEPOLIA / SOLANA DEVNET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54335" y="6400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9FF"/>
                </a:solidFill>
                <a:latin typeface="Consolas"/>
              </a:rPr>
              <a:t>PAID MCP vs ORDINARY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FFFFFF"/>
                </a:solidFill>
                <a:latin typeface="Georgia"/>
              </a:rPr>
              <a:t>四个假设被“先付钱”打破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1408" y="14813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普通 MCP 的假设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088" y="14813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9A9FF"/>
                </a:solidFill>
                <a:latin typeface="Consolas"/>
              </a:rPr>
              <a:t>→  付费 MCP 换成了什么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A1B4D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011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FFFFF"/>
                </a:solidFill>
                <a:latin typeface="Georgia"/>
              </a:rPr>
              <a:t>调用结果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1901952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AA3"/>
                </a:solidFill>
                <a:latin typeface="Arial"/>
              </a:rPr>
              <a:t>一次 tools/call 只有成功或报错两种归宿,客户端照着这两种写分支就够了。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847088"/>
            <a:ext cx="5260543" cy="841248"/>
          </a:xfrm>
          <a:prstGeom prst="rect">
            <a:avLst/>
          </a:prstGeom>
          <a:solidFill>
            <a:srgbClr val="0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847088"/>
            <a:ext cx="27432" cy="841248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01952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多出第三种:要求付款。challenge 在 structuredContent 里,客户端据此去签名,而不是当成错误上报。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57860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DF9C0"/>
                </a:solidFill>
                <a:latin typeface="Consolas"/>
              </a:rPr>
              <a:t>OK / ERROR / PAY-FIRST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89504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9809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A1B4D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" y="3145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FFFFF"/>
                </a:solidFill>
                <a:latin typeface="Georgia"/>
              </a:rPr>
              <a:t>凭证在哪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035808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AA3"/>
                </a:solidFill>
                <a:latin typeface="Arial"/>
              </a:rPr>
              <a:t>认证在传输层:Authorization: Bearer … 或 OAuth,一次授权长期有效。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2784" y="2980944"/>
            <a:ext cx="5260543" cy="841248"/>
          </a:xfrm>
          <a:prstGeom prst="rect">
            <a:avLst/>
          </a:prstGeom>
          <a:solidFill>
            <a:srgbClr val="0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980944"/>
            <a:ext cx="27432" cy="841248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035808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在工具参数里:headers 参数带一张一次性支付证明。Gateway 转发参数、不能注入 HTTP 头——这是它能穿过 Gateway 的唯一办法。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371246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DF9C0"/>
                </a:solidFill>
                <a:latin typeface="Consolas"/>
              </a:rPr>
              <a:t>PER-CALL, NOT PER-SESSION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23360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11480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A1B4D"/>
                </a:solidFill>
                <a:latin typeface="Georgia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4279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FFFFF"/>
                </a:solidFill>
                <a:latin typeface="Georgia"/>
              </a:rPr>
              <a:t>你是谁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21408" y="4169664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AA3"/>
                </a:solidFill>
                <a:latin typeface="Arial"/>
              </a:rPr>
              <a:t>先注册 client、发 token,再维护配额表与账单关系,服务端必须认识每个调用方。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72784" y="4114800"/>
            <a:ext cx="5260543" cy="841248"/>
          </a:xfrm>
          <a:prstGeom prst="rect">
            <a:avLst/>
          </a:prstGeom>
          <a:solidFill>
            <a:srgbClr val="0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4114800"/>
            <a:ext cx="27432" cy="841248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169664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没有账号、没有 key、没有配额表。授权就是链上一次 USDC 转账,结算成功才执行——服务端不需要认识调用方。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846320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DF9C0"/>
                </a:solidFill>
                <a:latin typeface="Consolas"/>
              </a:rPr>
              <a:t>NO SIGNUP, NO QUOTA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157216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24865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2A1B4D"/>
                </a:solidFill>
                <a:latin typeface="Georgia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5413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FFFFF"/>
                </a:solidFill>
                <a:latin typeface="Georgia"/>
              </a:rPr>
              <a:t>重试语义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21408" y="5303520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8A8AA3"/>
                </a:solidFill>
                <a:latin typeface="Arial"/>
              </a:rPr>
              <a:t>同一个请求可以原样重放,幂等,失败了重试就好。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72784" y="5248656"/>
            <a:ext cx="5260543" cy="841248"/>
          </a:xfrm>
          <a:prstGeom prst="rect">
            <a:avLst/>
          </a:prstGeom>
          <a:solidFill>
            <a:srgbClr val="0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2784" y="5248656"/>
            <a:ext cx="27432" cy="841248"/>
          </a:xfrm>
          <a:prstGeom prst="rect">
            <a:avLst/>
          </a:prstGeom>
          <a:solidFill>
            <a:srgbClr val="8C3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53035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Arial"/>
              </a:rPr>
              <a:t>证明约 60 秒有效,必须用新连接重试,且每次重试都要一张新证明——过期证明等同未付款。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598017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DF9C0"/>
                </a:solidFill>
                <a:latin typeface="Consolas"/>
              </a:rPr>
              <a:t>PROOF EXPIRES, REPLAY DOES NOT 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6291072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6291072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64008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协议没变 · 传输没变 · 变的是“调用之前先付钱”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4335" y="6400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9A9FF"/>
                </a:solidFill>
                <a:latin typeface="Consolas"/>
              </a:rPr>
              <a:t>WALLETS · CHAINS ·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0" i="0">
                <a:solidFill>
                  <a:srgbClr val="FFFFFF"/>
                </a:solidFill>
                <a:latin typeface="Georgia"/>
              </a:rPr>
              <a:t>用什么钱包,跑在哪条链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9A9FF"/>
                </a:solidFill>
                <a:latin typeface="Consolas"/>
              </a:rPr>
              <a:t>支持的钱包与对应链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792224"/>
            <a:ext cx="512064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5681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</a:rPr>
              <a:t>Coinbase CDP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23113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instrument network: ETHEREUM · SOLANA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7D8"/>
                </a:solidFill>
                <a:latin typeface="Consolas"/>
              </a:rPr>
              <a:t>eip155:1 Ethereum  ·  eip155:8453 Base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7DF9C0"/>
                </a:solidFill>
                <a:latin typeface="Consolas"/>
              </a:rPr>
              <a:t>base-sepolia</a:t>
            </a:r>
            <a:r>
              <a:rPr sz="1000" b="0" i="0">
                <a:solidFill>
                  <a:srgbClr val="8A8AA3"/>
                </a:solidFill>
                <a:latin typeface="Consolas"/>
              </a:rPr>
              <a:t>  ← 测试网首选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7D8"/>
                </a:solidFill>
                <a:latin typeface="Consolas"/>
              </a:rPr>
              <a:t>Solana mainnet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凭证:API Key ID + Secret + Wallet Secret。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56432"/>
            <a:ext cx="512064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393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</a:rPr>
              <a:t>Stripe(Privy)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1363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instrument network: ETHEREUM · SOLANA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5137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7D8"/>
                </a:solidFill>
                <a:latin typeface="Consolas"/>
              </a:rPr>
              <a:t>eip155:1 Ethereum  ·  Solana mainnet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9A9FF"/>
                </a:solidFill>
                <a:latin typeface="Consolas"/>
              </a:rPr>
              <a:t>solana-devnet</a:t>
            </a:r>
            <a:r>
              <a:rPr sz="1000" b="0" i="0">
                <a:solidFill>
                  <a:srgbClr val="8A8AA3"/>
                </a:solidFill>
                <a:latin typeface="Consolas"/>
              </a:rPr>
              <a:t>  ← 本 demo 用的这条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59028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凭证:AppId + AppSecret + Authorization ID 与私钥。Solana devnet 只有这条 provider 支持。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956048"/>
            <a:ext cx="512064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1389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</a:rPr>
              <a:t>稳定币与 faucet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41324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A8AA3"/>
                </a:solidFill>
                <a:latin typeface="Consolas"/>
              </a:rPr>
              <a:t>USDC · 6 decimals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50992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7D8"/>
                </a:solidFill>
                <a:latin typeface="Consolas"/>
              </a:rPr>
              <a:t>devnet mint 4zMMC9srt5Ri5X14GAgXhaHii3GnPAEERYPJgZJDncDU</a:t>
            </a:r>
          </a:p>
          <a:p>
            <a:pPr algn="l">
              <a:lnSpc>
                <a:spcPct val="145000"/>
              </a:lnSpc>
            </a:pPr>
            <a:r>
              <a:rPr sz="1000" b="0" i="0">
                <a:solidFill>
                  <a:srgbClr val="C7C7D8"/>
                </a:solidFill>
                <a:latin typeface="Consolas"/>
              </a:rPr>
              <a:t>faucet.circle.com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089904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收款地址必须已有该代币账户,否则结算永远失败(转账不会替你创建)。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6455664"/>
            <a:ext cx="5120640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371600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9A9FF"/>
                </a:solidFill>
                <a:latin typeface="Consolas"/>
              </a:rPr>
              <a:t>参考 REPO 与文档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6208" y="1645920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755648"/>
            <a:ext cx="52971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参考实现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1975104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2057400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aws-samples/sample-agentcore-cloudfront-x402-payments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267712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AWS 官方 AgentCore × x402 sample;付款环照它实现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2532888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2615184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krystiangw/agenticpay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2825496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x402 付费 MCP server;本 demo 的 merchant 由它改写成 Lambda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6208" y="3090672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3172968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coinbase/x402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3383280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协议本体 + facilitator + @x402/core · @x402/express · @x402/svm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3675888"/>
            <a:ext cx="52971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探路与教程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8" y="3895344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8" y="3977640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civicteam/x402-mcp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4187952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托管的 x402 MCP demo(Base Sepolia),用来抓真实 402 报文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36208" y="4453128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4535424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awslabs/agentcore-samples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4745736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AgentCore 官方示例仓库(原 amazon-bedrock-agentcore-samples 重定向到此)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5038344"/>
            <a:ext cx="529711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规范与文档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5257800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5340096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modelcontextprotocol.io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5550408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MCP 规范:JSON-RPC 2.0 报文 + streamable HTTP 传输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5815584"/>
            <a:ext cx="529711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5897880"/>
            <a:ext cx="529711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onsolas"/>
              </a:rPr>
              <a:t>x402.org · docs.aws.amazon.com/bedrock-agentcore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6108192"/>
            <a:ext cx="529711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7C7D8"/>
                </a:solidFill>
                <a:latin typeface="Arial"/>
              </a:rPr>
              <a:t>x402 协议站与 facilitator;AgentCore Payments / Gateway 文档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6291072"/>
            <a:ext cx="10874959" cy="1"/>
          </a:xfrm>
          <a:prstGeom prst="rect">
            <a:avLst/>
          </a:prstGeom>
          <a:solidFill>
            <a:srgbClr val="2C2C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" y="64008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COINBASE CDP 与 STRIPE(PRIVY) · X402 V1/V2 · MPP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54335" y="6400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 i="0">
                <a:solidFill>
                  <a:srgbClr val="8A8AA3"/>
                </a:solidFill>
                <a:latin typeface="Consolas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